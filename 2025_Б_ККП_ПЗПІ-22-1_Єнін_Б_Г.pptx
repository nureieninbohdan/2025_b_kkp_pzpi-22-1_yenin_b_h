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64" r:id="rId10"/>
    <p:sldId id="273" r:id="rId11"/>
    <p:sldId id="272" r:id="rId12"/>
    <p:sldId id="265" r:id="rId13"/>
    <p:sldId id="268" r:id="rId14"/>
    <p:sldId id="267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anose="020B0604020202020204" charset="0"/>
      <p:regular r:id="rId21"/>
      <p:bold r:id="rId22"/>
      <p:italic r:id="rId23"/>
      <p:boldItalic r:id="rId24"/>
    </p:embeddedFont>
    <p:embeddedFont>
      <p:font typeface="Economica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-634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31954" y="1198987"/>
            <a:ext cx="3281100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 smtClean="0"/>
              <a:t>Веб-застосунок для ведення списків книг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818577" y="3408550"/>
            <a:ext cx="5784394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Єнін Богдан Геннадійович, ПЗПІ-22-1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Керівник: доц. </a:t>
            </a: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каф. </a:t>
            </a:r>
            <a:r>
              <a:rPr lang="uk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ПІ, Побіженко Ірина Олександрівна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26 серпня 2025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74643"/>
            <a:ext cx="8520600" cy="3704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/>
              <a:t>Задачею даного </a:t>
            </a:r>
            <a:r>
              <a:rPr lang="uk-UA" dirty="0" err="1"/>
              <a:t>проєкту</a:t>
            </a:r>
            <a:r>
              <a:rPr lang="uk-UA" dirty="0"/>
              <a:t> є розробка веб-застосунку для ведення списків книг, який орієнтований на користувачів, що бажають вести облік прочитаних книг, залишати відгуки і ділитись своїми </a:t>
            </a:r>
            <a:r>
              <a:rPr lang="uk-UA" dirty="0" smtClean="0"/>
              <a:t>списками.</a:t>
            </a:r>
          </a:p>
          <a:p>
            <a:pPr marL="114300" indent="0">
              <a:buNone/>
            </a:pPr>
            <a:endParaRPr lang="uk-UA" dirty="0" smtClean="0"/>
          </a:p>
          <a:p>
            <a:pPr marL="114300" indent="0">
              <a:buNone/>
            </a:pPr>
            <a:r>
              <a:rPr lang="uk-UA" dirty="0" smtClean="0"/>
              <a:t>Створення публічних списків прочитаних/переглянутих матеріалів в наші часи є дуже популярним. Це часто стосується кіно та </a:t>
            </a:r>
            <a:r>
              <a:rPr lang="uk-UA" dirty="0" err="1" smtClean="0"/>
              <a:t>аніме</a:t>
            </a:r>
            <a:r>
              <a:rPr lang="uk-UA" dirty="0" smtClean="0"/>
              <a:t>-серіалів, але література завжди є бажаною і затребуваною.</a:t>
            </a:r>
          </a:p>
          <a:p>
            <a:pPr marL="114300" indent="0">
              <a:buNone/>
            </a:pPr>
            <a:endParaRPr lang="uk-UA" dirty="0" smtClean="0"/>
          </a:p>
          <a:p>
            <a:pPr marL="114300" indent="0">
              <a:buNone/>
            </a:pPr>
            <a:r>
              <a:rPr lang="uk-UA" dirty="0" smtClean="0"/>
              <a:t>Цільовою аудиторію є читачі, які люблять ділитися своєю думкою щодо прочитаних книг і порівнювати свої смаки зі смаками інших людей.</a:t>
            </a:r>
            <a:endParaRPr lang="uk-UA" dirty="0"/>
          </a:p>
          <a:p>
            <a:endParaRPr lang="uk-UA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Аналоги на ринку:</a:t>
            </a:r>
          </a:p>
          <a:p>
            <a:pPr lvl="0">
              <a:buClr>
                <a:srgbClr val="000000"/>
              </a:buClr>
            </a:pPr>
            <a:r>
              <a:rPr lang="en-US" dirty="0" err="1" smtClean="0">
                <a:solidFill>
                  <a:srgbClr val="000000"/>
                </a:solidFill>
              </a:rPr>
              <a:t>GoodReads</a:t>
            </a:r>
            <a:endParaRPr lang="en-US" dirty="0" smtClean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dirty="0" err="1" smtClean="0">
                <a:solidFill>
                  <a:srgbClr val="000000"/>
                </a:solidFill>
              </a:rPr>
              <a:t>LibraryThing</a:t>
            </a:r>
            <a:endParaRPr lang="uk-UA" dirty="0">
              <a:solidFill>
                <a:srgbClr val="000000"/>
              </a:solidFill>
            </a:endParaRPr>
          </a:p>
          <a:p>
            <a:pPr marL="114300" lvl="0" indent="0">
              <a:buClr>
                <a:srgbClr val="000000"/>
              </a:buClr>
              <a:buNone/>
            </a:pPr>
            <a:endParaRPr lang="uk-UA" dirty="0" smtClean="0">
              <a:solidFill>
                <a:srgbClr val="0D0D0D"/>
              </a:solidFill>
              <a:highlight>
                <a:srgbClr val="FFFFFF"/>
              </a:highlight>
              <a:latin typeface="Open Sans" panose="020B0604020202020204" charset="0"/>
            </a:endParaRPr>
          </a:p>
          <a:p>
            <a:pPr marL="114300" lvl="0" indent="0">
              <a:buClr>
                <a:srgbClr val="000000"/>
              </a:buClr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Мінусами сайтів-аналогів є інтуїтивно незрозумілий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інтерфейс та фокус на обговорення  в групах (у випадку з </a:t>
            </a:r>
            <a:r>
              <a:rPr lang="en-US" dirty="0" err="1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LibraryThing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uk-UA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</a:t>
            </a:r>
            <a:r>
              <a:rPr lang="uk" sz="3200" dirty="0" smtClean="0"/>
              <a:t>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Головною проблемою є відсутність «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User-friendly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» інтерфейсу, який дозволить користувачам зручно вести облік прочитаних книг. 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Для вирішення цієї проблеми необхідно створити веб-застосунок, який:</a:t>
            </a: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Дозволить користувачам додавати книги у власний профіль</a:t>
            </a: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Дозволить розділяти прочитані та заплановані книги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Дозволить виставляти оцінки і залишати відгуки</a:t>
            </a: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Дозволить легко шукати профілі інших користувачів</a:t>
            </a: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Буде мати зручний інтерфейс</a:t>
            </a:r>
            <a:endParaRPr lang="uk-UA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08858" y="83785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uk-UA" b="1" dirty="0"/>
              <a:t>Середовище розробки</a:t>
            </a:r>
            <a:r>
              <a:rPr lang="uk-UA" dirty="0"/>
              <a:t>: </a:t>
            </a:r>
            <a:r>
              <a:rPr lang="en-US" dirty="0"/>
              <a:t>IntelliJ IDEA</a:t>
            </a:r>
          </a:p>
          <a:p>
            <a:r>
              <a:rPr lang="uk-UA" b="1" dirty="0" smtClean="0"/>
              <a:t>Мова програмування</a:t>
            </a:r>
            <a:r>
              <a:rPr lang="uk-UA" dirty="0" smtClean="0"/>
              <a:t>: </a:t>
            </a:r>
            <a:r>
              <a:rPr lang="en-US" dirty="0" smtClean="0"/>
              <a:t>Java </a:t>
            </a:r>
            <a:endParaRPr lang="uk-UA" dirty="0" smtClean="0"/>
          </a:p>
          <a:p>
            <a:r>
              <a:rPr lang="uk-UA" b="1" dirty="0" err="1" smtClean="0"/>
              <a:t>Фреймворк</a:t>
            </a:r>
            <a:r>
              <a:rPr lang="uk-UA" dirty="0"/>
              <a:t>: </a:t>
            </a:r>
            <a:r>
              <a:rPr lang="en-US" dirty="0"/>
              <a:t>Spring Boot </a:t>
            </a:r>
            <a:endParaRPr lang="uk-UA" dirty="0" smtClean="0"/>
          </a:p>
          <a:p>
            <a:r>
              <a:rPr lang="uk-UA" b="1" dirty="0"/>
              <a:t>Збірка</a:t>
            </a:r>
            <a:r>
              <a:rPr lang="uk-UA" dirty="0"/>
              <a:t>: </a:t>
            </a:r>
            <a:r>
              <a:rPr lang="en-US" dirty="0" err="1" smtClean="0"/>
              <a:t>Gradle</a:t>
            </a:r>
            <a:endParaRPr lang="uk-UA" dirty="0" smtClean="0"/>
          </a:p>
          <a:p>
            <a:r>
              <a:rPr lang="uk-UA" b="1" dirty="0" smtClean="0"/>
              <a:t>СУБД</a:t>
            </a:r>
            <a:r>
              <a:rPr lang="uk-UA" dirty="0"/>
              <a:t>: </a:t>
            </a:r>
            <a:r>
              <a:rPr lang="en-US" dirty="0"/>
              <a:t>Microsoft SQL Server</a:t>
            </a:r>
          </a:p>
          <a:p>
            <a:r>
              <a:rPr lang="uk-UA" b="1" dirty="0" err="1" smtClean="0"/>
              <a:t>Фронтенд</a:t>
            </a:r>
            <a:r>
              <a:rPr lang="uk-UA" dirty="0"/>
              <a:t>: </a:t>
            </a:r>
            <a:r>
              <a:rPr lang="en-US" dirty="0"/>
              <a:t>HTML, CSS, JavaScript, </a:t>
            </a:r>
            <a:r>
              <a:rPr lang="en-US" dirty="0" err="1"/>
              <a:t>Thymeleaf</a:t>
            </a:r>
            <a:r>
              <a:rPr lang="en-US" dirty="0"/>
              <a:t> (</a:t>
            </a:r>
            <a:r>
              <a:rPr lang="uk-UA" dirty="0" err="1"/>
              <a:t>шаблонізатор</a:t>
            </a:r>
            <a:r>
              <a:rPr lang="uk-UA" dirty="0"/>
              <a:t>)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</a:t>
            </a: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/>
            </a:r>
            <a:b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</a:br>
            <a:r>
              <a:rPr lang="en-US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AutoShape 8" descr="Файл:IntelliJ IDEA Icon.svg — Вікіпеді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" name="AutoShape 10" descr="Файл:IntelliJ IDEA Icon.svg — Вікіпеді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6" name="Рисунок 5" descr="C:\Users\Asus\Pictures\Screenshots\Знімок екрана (1633)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1078992"/>
            <a:ext cx="6845808" cy="36812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425952" y="1078992"/>
            <a:ext cx="2139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Діаграма розгортання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99666" y="843677"/>
            <a:ext cx="8520600" cy="3806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Мови програмування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:</a:t>
            </a: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</a:rPr>
              <a:t>Java – </a:t>
            </a:r>
            <a:r>
              <a:rPr lang="uk-UA" sz="1400" dirty="0" smtClean="0">
                <a:solidFill>
                  <a:srgbClr val="000000"/>
                </a:solidFill>
              </a:rPr>
              <a:t>для всіх </a:t>
            </a:r>
            <a:r>
              <a:rPr lang="uk-UA" sz="1400" dirty="0" err="1" smtClean="0">
                <a:solidFill>
                  <a:srgbClr val="000000"/>
                </a:solidFill>
              </a:rPr>
              <a:t>бекенд</a:t>
            </a:r>
            <a:r>
              <a:rPr lang="uk-UA" sz="1400" dirty="0" smtClean="0">
                <a:solidFill>
                  <a:srgbClr val="000000"/>
                </a:solidFill>
              </a:rPr>
              <a:t>-класів</a:t>
            </a:r>
            <a:endParaRPr lang="uk-UA" sz="1400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</a:rPr>
              <a:t>HTML – </a:t>
            </a:r>
            <a:r>
              <a:rPr lang="uk-UA" sz="1400" dirty="0" smtClean="0">
                <a:solidFill>
                  <a:srgbClr val="000000"/>
                </a:solidFill>
              </a:rPr>
              <a:t>для </a:t>
            </a:r>
            <a:r>
              <a:rPr lang="en-US" sz="1400" dirty="0" err="1" smtClean="0">
                <a:solidFill>
                  <a:srgbClr val="000000"/>
                </a:solidFill>
              </a:rPr>
              <a:t>Thymeleaf</a:t>
            </a:r>
            <a:r>
              <a:rPr lang="en-US" sz="1400" dirty="0" smtClean="0">
                <a:solidFill>
                  <a:srgbClr val="000000"/>
                </a:solidFill>
              </a:rPr>
              <a:t>-</a:t>
            </a:r>
            <a:r>
              <a:rPr lang="uk-UA" sz="1400" dirty="0" smtClean="0">
                <a:solidFill>
                  <a:srgbClr val="000000"/>
                </a:solidFill>
              </a:rPr>
              <a:t>шаблонів</a:t>
            </a:r>
            <a:endParaRPr lang="en-US" sz="1400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CSS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– для стилізації елементів</a:t>
            </a: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JavaScript –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для інтерактивного інтерфейсу і асинхронних запитів</a:t>
            </a:r>
            <a:endParaRPr lang="en-US" sz="1400" dirty="0" smtClean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Ф</a:t>
            </a:r>
            <a:r>
              <a:rPr lang="uk-UA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реймворки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:</a:t>
            </a: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Spring Boot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– основний для побудови застосунку</a:t>
            </a:r>
            <a:endParaRPr lang="uk-UA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Spring Data JPA –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для роботи з базами даних</a:t>
            </a: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Spring Security –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керування безпекою</a:t>
            </a: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Hibernate –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реалізація специфікації 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JPA</a:t>
            </a:r>
            <a:endParaRPr lang="uk-UA" sz="1400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0">
              <a:buClr>
                <a:srgbClr val="000000"/>
              </a:buClr>
            </a:pP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Tailwind CSS – </a:t>
            </a:r>
            <a:r>
              <a:rPr lang="uk-UA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для налаштування інтерфейсу</a:t>
            </a:r>
            <a:endParaRPr lang="en-US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lang="uk-UA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4970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/>
              <a:t>Методи: </a:t>
            </a:r>
          </a:p>
          <a:p>
            <a:pPr lvl="0">
              <a:buClr>
                <a:srgbClr val="000000"/>
              </a:buClr>
            </a:pPr>
            <a:r>
              <a:rPr lang="en-US" dirty="0" smtClean="0">
                <a:solidFill>
                  <a:srgbClr val="000000"/>
                </a:solidFill>
              </a:rPr>
              <a:t>MVC</a:t>
            </a:r>
            <a:endParaRPr lang="uk-UA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 smtClean="0">
                <a:solidFill>
                  <a:srgbClr val="000000"/>
                </a:solidFill>
              </a:rPr>
              <a:t>Багаторівнева монолітна архітектура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 smtClean="0"/>
              <a:t>Послідовність:</a:t>
            </a:r>
          </a:p>
          <a:p>
            <a:pPr lvl="0">
              <a:buClr>
                <a:srgbClr val="000000"/>
              </a:buClr>
            </a:pPr>
            <a:r>
              <a:rPr lang="uk-UA" dirty="0" err="1">
                <a:solidFill>
                  <a:srgbClr val="000000"/>
                </a:solidFill>
              </a:rPr>
              <a:t>Проєктування</a:t>
            </a:r>
            <a:r>
              <a:rPr lang="uk-UA" dirty="0">
                <a:solidFill>
                  <a:srgbClr val="000000"/>
                </a:solidFill>
              </a:rPr>
              <a:t> архітектури</a:t>
            </a:r>
          </a:p>
          <a:p>
            <a:pPr lvl="0">
              <a:buClr>
                <a:srgbClr val="000000"/>
              </a:buClr>
            </a:pPr>
            <a:r>
              <a:rPr lang="uk-UA" dirty="0" err="1">
                <a:solidFill>
                  <a:srgbClr val="000000"/>
                </a:solidFill>
              </a:rPr>
              <a:t>Проєктування</a:t>
            </a:r>
            <a:r>
              <a:rPr lang="uk-UA" dirty="0">
                <a:solidFill>
                  <a:srgbClr val="000000"/>
                </a:solidFill>
              </a:rPr>
              <a:t> БД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>
                <a:solidFill>
                  <a:srgbClr val="000000"/>
                </a:solidFill>
              </a:rPr>
              <a:t>Створення шаблонів </a:t>
            </a:r>
            <a:r>
              <a:rPr lang="en-US" dirty="0" err="1">
                <a:solidFill>
                  <a:srgbClr val="000000"/>
                </a:solidFill>
              </a:rPr>
              <a:t>Thymeleaf</a:t>
            </a:r>
            <a:r>
              <a:rPr lang="uk-UA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(HTML-</a:t>
            </a:r>
            <a:r>
              <a:rPr lang="uk-UA" dirty="0">
                <a:solidFill>
                  <a:srgbClr val="000000"/>
                </a:solidFill>
              </a:rPr>
              <a:t>сторінок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uk-UA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>
                <a:solidFill>
                  <a:srgbClr val="000000"/>
                </a:solidFill>
              </a:rPr>
              <a:t>Створення сутностей і </a:t>
            </a:r>
            <a:r>
              <a:rPr lang="uk-UA" dirty="0" err="1">
                <a:solidFill>
                  <a:srgbClr val="000000"/>
                </a:solidFill>
              </a:rPr>
              <a:t>репозиторіїв</a:t>
            </a:r>
            <a:endParaRPr lang="uk-UA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>
                <a:solidFill>
                  <a:srgbClr val="000000"/>
                </a:solidFill>
              </a:rPr>
              <a:t>Створення</a:t>
            </a:r>
            <a:r>
              <a:rPr lang="en-US" dirty="0">
                <a:solidFill>
                  <a:srgbClr val="000000"/>
                </a:solidFill>
              </a:rPr>
              <a:t> REST-</a:t>
            </a:r>
            <a:r>
              <a:rPr lang="uk-UA" dirty="0" err="1">
                <a:solidFill>
                  <a:srgbClr val="000000"/>
                </a:solidFill>
              </a:rPr>
              <a:t>контроллерів</a:t>
            </a:r>
            <a:endParaRPr lang="uk-UA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uk-UA" dirty="0">
                <a:solidFill>
                  <a:srgbClr val="000000"/>
                </a:solidFill>
              </a:rPr>
              <a:t>Створення сервісів для реалізації бізнес-логіки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uk" dirty="0" smtClean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 smtClean="0"/>
              <a:t>Форма на сторінці відправляє запит </a:t>
            </a:r>
            <a:r>
              <a:rPr lang="en-US" dirty="0" smtClean="0"/>
              <a:t>POST</a:t>
            </a:r>
            <a:r>
              <a:rPr lang="uk-UA" dirty="0"/>
              <a:t> </a:t>
            </a:r>
            <a:r>
              <a:rPr lang="uk-UA" dirty="0" smtClean="0"/>
              <a:t>при натисканні на кнопку</a:t>
            </a:r>
          </a:p>
          <a:p>
            <a:pPr marL="114300" indent="0">
              <a:buNone/>
            </a:pPr>
            <a:r>
              <a:rPr lang="en-US" sz="1200" dirty="0"/>
              <a:t>&lt;form action="/register" method="post" </a:t>
            </a:r>
            <a:r>
              <a:rPr lang="en-US" sz="1200" dirty="0" err="1"/>
              <a:t>onsubmit</a:t>
            </a:r>
            <a:r>
              <a:rPr lang="en-US" sz="1200" dirty="0"/>
              <a:t>="return </a:t>
            </a:r>
            <a:r>
              <a:rPr lang="en-US" sz="1200" dirty="0" err="1"/>
              <a:t>validatePassword</a:t>
            </a:r>
            <a:r>
              <a:rPr lang="en-US" sz="1200" dirty="0"/>
              <a:t>()" class="space-y-4</a:t>
            </a:r>
            <a:r>
              <a:rPr lang="en-US" sz="1200" dirty="0" smtClean="0"/>
              <a:t>"&gt;</a:t>
            </a:r>
            <a:endParaRPr lang="uk-UA" sz="1200" dirty="0" smtClean="0"/>
          </a:p>
          <a:p>
            <a:pPr marL="114300" indent="0">
              <a:buNone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</a:t>
            </a:r>
            <a:r>
              <a:rPr lang="uk-UA" sz="1200" dirty="0" smtClean="0"/>
              <a:t>&lt;!– інші елементи </a:t>
            </a:r>
            <a:r>
              <a:rPr lang="en-US" sz="1200" dirty="0" smtClean="0"/>
              <a:t>--&gt;</a:t>
            </a:r>
            <a:endParaRPr lang="uk-UA" sz="1200" dirty="0" smtClean="0"/>
          </a:p>
          <a:p>
            <a:pPr marL="114300" indent="0">
              <a:buNone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&lt;button type="submit" class="w-full bg-blue-600 text-white py-2 rounded hover:bg-blue-700 transition"&gt;</a:t>
            </a:r>
            <a:br>
              <a:rPr lang="en-US" sz="1200" dirty="0"/>
            </a:br>
            <a:r>
              <a:rPr lang="en-US" sz="1200" dirty="0"/>
              <a:t>        </a:t>
            </a:r>
            <a:r>
              <a:rPr lang="uk-UA" sz="1200" dirty="0"/>
              <a:t>Зареєструватись</a:t>
            </a:r>
            <a:br>
              <a:rPr lang="uk-UA" sz="1200" dirty="0"/>
            </a:br>
            <a:r>
              <a:rPr lang="uk-UA" sz="1200" dirty="0"/>
              <a:t>    &lt;/</a:t>
            </a:r>
            <a:r>
              <a:rPr lang="en-US" sz="1200" dirty="0"/>
              <a:t>button&gt;</a:t>
            </a:r>
            <a:br>
              <a:rPr lang="en-US" sz="1200" dirty="0"/>
            </a:br>
            <a:endParaRPr lang="uk-UA" sz="1200" dirty="0"/>
          </a:p>
          <a:p>
            <a:pPr marL="114300" indent="0">
              <a:buNone/>
            </a:pPr>
            <a:r>
              <a:rPr lang="uk-UA" sz="1200" dirty="0"/>
              <a:t> </a:t>
            </a:r>
            <a:r>
              <a:rPr lang="uk-UA" sz="1200" dirty="0" smtClean="0"/>
              <a:t>   &lt;!– </a:t>
            </a:r>
            <a:r>
              <a:rPr lang="uk-UA" sz="1200" dirty="0"/>
              <a:t>інші елементи </a:t>
            </a:r>
            <a:r>
              <a:rPr lang="en-US" sz="1200" dirty="0"/>
              <a:t>--&gt;</a:t>
            </a:r>
            <a:br>
              <a:rPr lang="en-US" sz="1200" dirty="0"/>
            </a:br>
            <a:r>
              <a:rPr lang="en-US" sz="1200" dirty="0"/>
              <a:t>    &lt;/p&gt;</a:t>
            </a:r>
            <a:br>
              <a:rPr lang="en-US" sz="1200" dirty="0"/>
            </a:br>
            <a:r>
              <a:rPr lang="en-US" sz="1200" dirty="0"/>
              <a:t>&lt;/form&gt;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dirty="0" smtClean="0"/>
              <a:t>REST-</a:t>
            </a:r>
            <a:r>
              <a:rPr lang="uk-UA" dirty="0" err="1" smtClean="0"/>
              <a:t>контроллер</a:t>
            </a:r>
            <a:r>
              <a:rPr lang="uk-UA" dirty="0" smtClean="0"/>
              <a:t> приймає запит </a:t>
            </a:r>
            <a:r>
              <a:rPr lang="en-US" dirty="0" smtClean="0"/>
              <a:t>POST</a:t>
            </a:r>
            <a:r>
              <a:rPr lang="uk-UA" dirty="0" smtClean="0"/>
              <a:t> і викликає сервіс</a:t>
            </a:r>
          </a:p>
          <a:p>
            <a:pPr marL="114300" indent="0">
              <a:buNone/>
            </a:pPr>
            <a:r>
              <a:rPr lang="en-US" sz="1200" dirty="0" smtClean="0"/>
              <a:t>@</a:t>
            </a:r>
            <a:r>
              <a:rPr lang="en-US" sz="1200" dirty="0" err="1"/>
              <a:t>PostMapping</a:t>
            </a:r>
            <a:r>
              <a:rPr lang="en-US" sz="1200" dirty="0"/>
              <a:t>("/register")</a:t>
            </a:r>
            <a:br>
              <a:rPr lang="en-US" sz="1200" dirty="0"/>
            </a:br>
            <a:r>
              <a:rPr lang="en-US" sz="1200" dirty="0"/>
              <a:t>public String </a:t>
            </a:r>
            <a:r>
              <a:rPr lang="en-US" sz="1200" dirty="0" err="1"/>
              <a:t>processRegistration</a:t>
            </a:r>
            <a:r>
              <a:rPr lang="en-US" sz="1200" dirty="0"/>
              <a:t>(@</a:t>
            </a:r>
            <a:r>
              <a:rPr lang="en-US" sz="1200" dirty="0" err="1"/>
              <a:t>RequestParam</a:t>
            </a:r>
            <a:r>
              <a:rPr lang="en-US" sz="1200" dirty="0"/>
              <a:t> String username,</a:t>
            </a:r>
            <a:br>
              <a:rPr lang="en-US" sz="1200" dirty="0"/>
            </a:br>
            <a:r>
              <a:rPr lang="en-US" sz="1200" dirty="0"/>
              <a:t>                                  @</a:t>
            </a:r>
            <a:r>
              <a:rPr lang="en-US" sz="1200" dirty="0" err="1"/>
              <a:t>RequestParam</a:t>
            </a:r>
            <a:r>
              <a:rPr lang="en-US" sz="1200" dirty="0"/>
              <a:t> String email,</a:t>
            </a:r>
            <a:br>
              <a:rPr lang="en-US" sz="1200" dirty="0"/>
            </a:br>
            <a:r>
              <a:rPr lang="en-US" sz="1200" dirty="0"/>
              <a:t>                                  @</a:t>
            </a:r>
            <a:r>
              <a:rPr lang="en-US" sz="1200" dirty="0" err="1"/>
              <a:t>RequestParam</a:t>
            </a:r>
            <a:r>
              <a:rPr lang="en-US" sz="1200" dirty="0"/>
              <a:t> String password,</a:t>
            </a:r>
            <a:br>
              <a:rPr lang="en-US" sz="1200" dirty="0"/>
            </a:br>
            <a:r>
              <a:rPr lang="en-US" sz="1200" dirty="0"/>
              <a:t>                                  Model model) {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if (</a:t>
            </a:r>
            <a:r>
              <a:rPr lang="en-US" sz="1200" dirty="0" err="1"/>
              <a:t>userService.existsByUsername</a:t>
            </a:r>
            <a:r>
              <a:rPr lang="en-US" sz="1200" dirty="0"/>
              <a:t>(username) || </a:t>
            </a:r>
            <a:r>
              <a:rPr lang="en-US" sz="1200" dirty="0" err="1"/>
              <a:t>userService.existsByEmail</a:t>
            </a:r>
            <a:r>
              <a:rPr lang="en-US" sz="1200" dirty="0"/>
              <a:t>(email)) {</a:t>
            </a:r>
            <a:br>
              <a:rPr lang="en-US" sz="1200" dirty="0"/>
            </a:br>
            <a:r>
              <a:rPr lang="en-US" sz="1200" dirty="0"/>
              <a:t>        </a:t>
            </a:r>
            <a:r>
              <a:rPr lang="en-US" sz="1200" dirty="0" err="1"/>
              <a:t>model.addAttribute</a:t>
            </a:r>
            <a:r>
              <a:rPr lang="en-US" sz="1200" dirty="0"/>
              <a:t>("</a:t>
            </a:r>
            <a:r>
              <a:rPr lang="en-US" sz="1200" dirty="0" err="1"/>
              <a:t>errorMessage</a:t>
            </a:r>
            <a:r>
              <a:rPr lang="en-US" sz="1200" dirty="0"/>
              <a:t>", "</a:t>
            </a:r>
            <a:r>
              <a:rPr lang="uk-UA" sz="1200" dirty="0"/>
              <a:t>Користувач з таким ім'ям або </a:t>
            </a:r>
            <a:r>
              <a:rPr lang="uk-UA" sz="1200" dirty="0" err="1"/>
              <a:t>адресою</a:t>
            </a:r>
            <a:r>
              <a:rPr lang="uk-UA" sz="1200" dirty="0"/>
              <a:t> вже існує");</a:t>
            </a:r>
            <a:br>
              <a:rPr lang="uk-UA" sz="1200" dirty="0"/>
            </a:br>
            <a:r>
              <a:rPr lang="uk-UA" sz="1200" dirty="0"/>
              <a:t>        </a:t>
            </a:r>
            <a:r>
              <a:rPr lang="en-US" sz="1200" dirty="0"/>
              <a:t>return "register";</a:t>
            </a:r>
            <a:br>
              <a:rPr lang="en-US" sz="1200" dirty="0"/>
            </a:br>
            <a:r>
              <a:rPr lang="en-US" sz="1200" dirty="0"/>
              <a:t>    }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</a:t>
            </a:r>
            <a:r>
              <a:rPr lang="en-US" sz="1200" dirty="0" err="1"/>
              <a:t>userService.registerUser</a:t>
            </a:r>
            <a:r>
              <a:rPr lang="en-US" sz="1200" dirty="0"/>
              <a:t>(username, email, password);</a:t>
            </a:r>
            <a:br>
              <a:rPr lang="en-US" sz="1200" dirty="0"/>
            </a:br>
            <a:r>
              <a:rPr lang="en-US" sz="1200" dirty="0"/>
              <a:t>    return "redirect:/login";</a:t>
            </a:r>
            <a:br>
              <a:rPr lang="en-US" sz="1200" dirty="0"/>
            </a:br>
            <a:r>
              <a:rPr lang="en-US" sz="1200" dirty="0"/>
              <a:t>}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3749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687520"/>
            <a:ext cx="8520600" cy="3891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uk-UA" dirty="0" smtClean="0"/>
              <a:t>Методи з сервісу викликають дії над </a:t>
            </a:r>
            <a:r>
              <a:rPr lang="uk-UA" dirty="0" err="1" smtClean="0"/>
              <a:t>репозиторієм</a:t>
            </a:r>
            <a:endParaRPr lang="uk-UA" dirty="0" smtClean="0"/>
          </a:p>
          <a:p>
            <a:pPr marL="114300" indent="0">
              <a:buNone/>
            </a:pPr>
            <a:r>
              <a:rPr lang="en-US" sz="1400" dirty="0"/>
              <a:t>public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existsByUsername</a:t>
            </a:r>
            <a:r>
              <a:rPr lang="en-US" sz="1400" dirty="0"/>
              <a:t>(String username) {</a:t>
            </a:r>
            <a:br>
              <a:rPr lang="en-US" sz="1400" dirty="0"/>
            </a:br>
            <a:r>
              <a:rPr lang="en-US" sz="1400" dirty="0"/>
              <a:t>    return </a:t>
            </a:r>
            <a:r>
              <a:rPr lang="en-US" sz="1400" dirty="0" err="1"/>
              <a:t>userRepository.findByUsername</a:t>
            </a:r>
            <a:r>
              <a:rPr lang="en-US" sz="1400" dirty="0"/>
              <a:t>(username).</a:t>
            </a:r>
            <a:r>
              <a:rPr lang="en-US" sz="1400" dirty="0" err="1"/>
              <a:t>isPresent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 smtClean="0"/>
              <a:t>}</a:t>
            </a:r>
            <a:endParaRPr lang="uk-UA" sz="1400" dirty="0" smtClean="0"/>
          </a:p>
          <a:p>
            <a:pPr marL="114300" indent="0">
              <a:buNone/>
            </a:pPr>
            <a:r>
              <a:rPr lang="en-US" sz="1400" dirty="0"/>
              <a:t>public User </a:t>
            </a:r>
            <a:r>
              <a:rPr lang="en-US" sz="1400" dirty="0" err="1"/>
              <a:t>registerUser</a:t>
            </a:r>
            <a:r>
              <a:rPr lang="en-US" sz="1400" dirty="0"/>
              <a:t>(String username, String email, String </a:t>
            </a:r>
            <a:r>
              <a:rPr lang="en-US" sz="1400" dirty="0" err="1"/>
              <a:t>rawPassword</a:t>
            </a:r>
            <a:r>
              <a:rPr lang="en-US" sz="1400" dirty="0"/>
              <a:t>) {</a:t>
            </a:r>
            <a:br>
              <a:rPr lang="en-US" sz="1400" dirty="0"/>
            </a:br>
            <a:r>
              <a:rPr lang="en-US" sz="1400" dirty="0"/>
              <a:t>    if (</a:t>
            </a:r>
            <a:r>
              <a:rPr lang="en-US" sz="1400" dirty="0" err="1"/>
              <a:t>existsByUsername</a:t>
            </a:r>
            <a:r>
              <a:rPr lang="en-US" sz="1400" dirty="0"/>
              <a:t>(username) || </a:t>
            </a:r>
            <a:r>
              <a:rPr lang="en-US" sz="1400" dirty="0" err="1"/>
              <a:t>existsByEmail</a:t>
            </a:r>
            <a:r>
              <a:rPr lang="en-US" sz="1400" dirty="0"/>
              <a:t>(email)) {</a:t>
            </a:r>
            <a:br>
              <a:rPr lang="en-US" sz="1400" dirty="0"/>
            </a:br>
            <a:r>
              <a:rPr lang="en-US" sz="1400" dirty="0"/>
              <a:t>        throw new </a:t>
            </a:r>
            <a:r>
              <a:rPr lang="en-US" sz="1400" dirty="0" err="1"/>
              <a:t>IllegalArgumentException</a:t>
            </a:r>
            <a:r>
              <a:rPr lang="en-US" sz="1400" dirty="0"/>
              <a:t>("</a:t>
            </a:r>
            <a:r>
              <a:rPr lang="uk-UA" sz="1400" dirty="0"/>
              <a:t>Користувач з таким ім'ям або </a:t>
            </a:r>
            <a:r>
              <a:rPr lang="uk-UA" sz="1400" dirty="0" err="1"/>
              <a:t>адресою</a:t>
            </a:r>
            <a:r>
              <a:rPr lang="uk-UA" sz="1400" dirty="0"/>
              <a:t> вже існує");</a:t>
            </a:r>
            <a:br>
              <a:rPr lang="uk-UA" sz="1400" dirty="0"/>
            </a:br>
            <a:r>
              <a:rPr lang="uk-UA" sz="1400" dirty="0"/>
              <a:t>    }</a:t>
            </a:r>
            <a:br>
              <a:rPr lang="uk-UA" sz="1400" dirty="0"/>
            </a:br>
            <a:r>
              <a:rPr lang="uk-UA" sz="1400" dirty="0"/>
              <a:t/>
            </a:r>
            <a:br>
              <a:rPr lang="uk-UA" sz="1400" dirty="0"/>
            </a:br>
            <a:r>
              <a:rPr lang="uk-UA" sz="1400" dirty="0"/>
              <a:t>    </a:t>
            </a:r>
            <a:r>
              <a:rPr lang="en-US" sz="1400" dirty="0"/>
              <a:t>User </a:t>
            </a:r>
            <a:r>
              <a:rPr lang="en-US" sz="1400" dirty="0" err="1"/>
              <a:t>user</a:t>
            </a:r>
            <a:r>
              <a:rPr lang="en-US" sz="1400" dirty="0"/>
              <a:t> = new User();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user.setUsername</a:t>
            </a:r>
            <a:r>
              <a:rPr lang="en-US" sz="1400" dirty="0"/>
              <a:t>(username);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user.setEmail</a:t>
            </a:r>
            <a:r>
              <a:rPr lang="en-US" sz="1400" dirty="0"/>
              <a:t>(email);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user.setPasswordHash</a:t>
            </a:r>
            <a:r>
              <a:rPr lang="en-US" sz="1400" dirty="0"/>
              <a:t>(</a:t>
            </a:r>
            <a:r>
              <a:rPr lang="en-US" sz="1400" dirty="0" err="1"/>
              <a:t>passwordEncoder.encode</a:t>
            </a:r>
            <a:r>
              <a:rPr lang="en-US" sz="1400" dirty="0"/>
              <a:t>(</a:t>
            </a:r>
            <a:r>
              <a:rPr lang="en-US" sz="1400" dirty="0" err="1"/>
              <a:t>rawPassword</a:t>
            </a:r>
            <a:r>
              <a:rPr lang="en-US" sz="1400" dirty="0"/>
              <a:t>));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ZonedDateTime</a:t>
            </a:r>
            <a:r>
              <a:rPr lang="en-US" sz="1400" dirty="0"/>
              <a:t> </a:t>
            </a:r>
            <a:r>
              <a:rPr lang="en-US" sz="1400" dirty="0" err="1"/>
              <a:t>kyivNow</a:t>
            </a:r>
            <a:r>
              <a:rPr lang="en-US" sz="1400" dirty="0"/>
              <a:t> = </a:t>
            </a:r>
            <a:r>
              <a:rPr lang="en-US" sz="1400" dirty="0" err="1"/>
              <a:t>ZonedDateTime.</a:t>
            </a:r>
            <a:r>
              <a:rPr lang="en-US" sz="1400" i="1" dirty="0" err="1"/>
              <a:t>now</a:t>
            </a:r>
            <a:r>
              <a:rPr lang="en-US" sz="1400" dirty="0"/>
              <a:t>(</a:t>
            </a:r>
            <a:r>
              <a:rPr lang="en-US" sz="1400" dirty="0" err="1"/>
              <a:t>ZoneId.</a:t>
            </a:r>
            <a:r>
              <a:rPr lang="en-US" sz="1400" i="1" dirty="0" err="1"/>
              <a:t>of</a:t>
            </a:r>
            <a:r>
              <a:rPr lang="en-US" sz="1400" dirty="0"/>
              <a:t>("Europe/Kiev"));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user.setCreatedAt</a:t>
            </a:r>
            <a:r>
              <a:rPr lang="en-US" sz="1400" dirty="0"/>
              <a:t>(</a:t>
            </a:r>
            <a:r>
              <a:rPr lang="en-US" sz="1400" dirty="0" err="1"/>
              <a:t>kyivNow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user.setRole</a:t>
            </a:r>
            <a:r>
              <a:rPr lang="en-US" sz="1400" dirty="0"/>
              <a:t>("USER");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    return </a:t>
            </a:r>
            <a:r>
              <a:rPr lang="en-US" sz="1400" dirty="0" err="1"/>
              <a:t>userRepository.save</a:t>
            </a:r>
            <a:r>
              <a:rPr lang="en-US" sz="1400" dirty="0"/>
              <a:t>(user);</a:t>
            </a:r>
            <a:br>
              <a:rPr lang="en-US" sz="1400" dirty="0"/>
            </a:br>
            <a:r>
              <a:rPr lang="en-US" sz="1400" dirty="0"/>
              <a:t>}</a:t>
            </a: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 marL="114300" indent="0">
              <a:buNone/>
            </a:pPr>
            <a:endParaRPr lang="en-US" sz="1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0802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8" name="Рисунок 7" descr="C:\Users\Asus\Pictures\Screenshots\Знімок екрана (1647)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95" y="660018"/>
            <a:ext cx="3038834" cy="1519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C:\Users\Asus\Pictures\Screenshots\Знімок екрана (1650)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53" y="2619446"/>
            <a:ext cx="3038834" cy="1519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C:\Users\Asus\Pictures\Screenshots\Знімок екрана (1652).pn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79" y="763142"/>
            <a:ext cx="3038834" cy="1519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C:\Users\Asus\Pictures\Screenshots\Знімок екрана (1648).pn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95" y="2619446"/>
            <a:ext cx="3038834" cy="151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568959"/>
              </p:ext>
            </p:extLst>
          </p:nvPr>
        </p:nvGraphicFramePr>
        <p:xfrm>
          <a:off x="371259" y="1148150"/>
          <a:ext cx="3905108" cy="30499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2178"/>
                <a:gridCol w="597513"/>
                <a:gridCol w="923674"/>
                <a:gridCol w="653088"/>
                <a:gridCol w="325776"/>
                <a:gridCol w="602879"/>
              </a:tblGrid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ID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00</a:t>
                      </a:r>
                      <a:r>
                        <a:rPr lang="uk-UA" sz="600">
                          <a:effectLst/>
                        </a:rPr>
                        <a:t>1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Назва програми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err="1">
                          <a:effectLst/>
                        </a:rPr>
                        <a:t>YBBookTrack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Тип перевірки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Перевірка роботи сайту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Дата 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26</a:t>
                      </a:r>
                      <a:r>
                        <a:rPr lang="uk-UA" sz="600">
                          <a:effectLst/>
                        </a:rPr>
                        <a:t>.08.2025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Тестувальник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Єнін Б. Г.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Операційна система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Windows 10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Браузер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Chrome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90473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Статус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Кількість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Відсоток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21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100.00%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Minor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0.00%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Average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0.00%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Major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0.00%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145237"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Critical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0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0.00%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</a:tr>
              <a:tr h="290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Модуль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Глибина тестування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Функція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Успішність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Коментарі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7261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Весь застосунок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AT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GUI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Навігація зручна і швидка, кольорова гама і тіні реалізовані добре. </a:t>
                      </a:r>
                      <a:r>
                        <a:rPr lang="en-US" sz="600" dirty="0">
                          <a:effectLst/>
                        </a:rPr>
                        <a:t>Hover-</a:t>
                      </a:r>
                      <a:r>
                        <a:rPr lang="uk-UA" sz="600" dirty="0">
                          <a:effectLst/>
                        </a:rPr>
                        <a:t>ефект присутній.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32673" marR="32673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55787"/>
              </p:ext>
            </p:extLst>
          </p:nvPr>
        </p:nvGraphicFramePr>
        <p:xfrm>
          <a:off x="4472521" y="338670"/>
          <a:ext cx="4305719" cy="2468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4470"/>
                <a:gridCol w="658810"/>
                <a:gridCol w="1018431"/>
                <a:gridCol w="720084"/>
                <a:gridCol w="1023924"/>
              </a:tblGrid>
              <a:tr h="1750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Модуль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Глибина тестування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Функція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Успішність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Коментарі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8193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Весь застосунок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Пошук користувачів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937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Головна сторінка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Пошук книг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937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Головна сторінка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Сортування книг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OK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750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Головна сторінка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Додавання книги (адміністратор)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750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Головна сторінка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Видалення книги (адміністратор)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8193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Книга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Встановлення оцінки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750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Книга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Встановлення статусу прочитання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750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Книга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Редагування книги (адміністратор)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0859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Книга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Додавання коментаря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0859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Книга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Видалення коментаря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10859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Профіль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Перегляд списків книг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  <a:tr h="8193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Профіль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Додавання аватара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5671" marR="25671" marT="0" marB="0"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224627"/>
              </p:ext>
            </p:extLst>
          </p:nvPr>
        </p:nvGraphicFramePr>
        <p:xfrm>
          <a:off x="4482622" y="2928833"/>
          <a:ext cx="4295617" cy="18314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394"/>
                <a:gridCol w="657266"/>
                <a:gridCol w="1016041"/>
                <a:gridCol w="718396"/>
                <a:gridCol w="1021520"/>
              </a:tblGrid>
              <a:tr h="2755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Модуль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Глибина тестування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Функція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Успішність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Коментарі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137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Профіль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Видалення </a:t>
                      </a:r>
                      <a:r>
                        <a:rPr lang="uk-UA" sz="600" dirty="0" err="1">
                          <a:effectLst/>
                        </a:rPr>
                        <a:t>аватара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OK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137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Налаштування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Зміна юзернейма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2755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Налаштування налаштувань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Зміна електронної адреси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OK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137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Налаштування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Зміна паролю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OK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1784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Вхід/реєстрація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Вхід в обліковий запис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 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2755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Вхід/реєстрація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Реєстрація нового облікового запису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2755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Вхід/реєстрація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Відправка листа для скидання паролю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OK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  <a:tr h="1377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Вхід/реєстрація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AT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>
                          <a:effectLst/>
                        </a:rPr>
                        <a:t>Скидання паролю</a:t>
                      </a:r>
                      <a:endParaRPr lang="uk-UA" sz="6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OK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600" dirty="0">
                          <a:effectLst/>
                        </a:rPr>
                        <a:t> </a:t>
                      </a:r>
                      <a:endParaRPr lang="uk-UA" sz="6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282" marR="42282" marT="0" marB="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5011" y="719260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Acceptance Sheet</a:t>
            </a:r>
            <a:r>
              <a:rPr lang="uk-UA" dirty="0" smtClean="0"/>
              <a:t>: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8575" y="91584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smtClean="0"/>
              <a:t>В результаті було створено веб-застосунок «</a:t>
            </a:r>
            <a:r>
              <a:rPr lang="en-US" dirty="0" err="1" smtClean="0"/>
              <a:t>YBBookTrack</a:t>
            </a:r>
            <a:r>
              <a:rPr lang="uk-UA" dirty="0" smtClean="0"/>
              <a:t>». Він виконує зазначений раніше ряд функцій, які потрібні користувачам для зручного ведення списків книг.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smtClean="0"/>
              <a:t>Застосунок можна буде випустити в </a:t>
            </a:r>
            <a:r>
              <a:rPr lang="uk-UA" dirty="0" err="1" smtClean="0"/>
              <a:t>продакшн</a:t>
            </a:r>
            <a:r>
              <a:rPr lang="uk-UA" dirty="0" smtClean="0"/>
              <a:t>, оскільки він реалізовує затребувані функції, яких потенційним користувачам зараз не вистачає на сайтах-аналогах.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err="1" smtClean="0"/>
              <a:t>Проєкт</a:t>
            </a:r>
            <a:r>
              <a:rPr lang="uk-UA" dirty="0" smtClean="0"/>
              <a:t> може бути вдосконаленим додаванням локалізації, рекомендацій, покращенням логіки імпорту тощо. 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_презентації_до_ККП_бакалавра_2025 (2)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590</TotalTime>
  <Words>697</Words>
  <Application>Microsoft Office PowerPoint</Application>
  <PresentationFormat>Экран (16:9)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Calibri</vt:lpstr>
      <vt:lpstr>Open Sans</vt:lpstr>
      <vt:lpstr>Economica</vt:lpstr>
      <vt:lpstr>Шаблон_презентації_до_ККП_бакалавра_2025 (2)</vt:lpstr>
      <vt:lpstr>Веб-застосунок для ведення списків книг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Веб-застосунок для ведення списків книг</dc:title>
  <dc:creator>Asus</dc:creator>
  <cp:lastModifiedBy>Asus</cp:lastModifiedBy>
  <cp:revision>28</cp:revision>
  <dcterms:created xsi:type="dcterms:W3CDTF">2025-08-26T14:15:52Z</dcterms:created>
  <dcterms:modified xsi:type="dcterms:W3CDTF">2025-08-27T00:10:00Z</dcterms:modified>
</cp:coreProperties>
</file>